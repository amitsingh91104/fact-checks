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162B5E"/>
          </a:solidFill>
          <a:ln w="12700">
            <a:solidFill>
              <a:srgbClr val="162B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4023360"/>
            <a:ext cx="9144000" cy="45720"/>
          </a:xfrm>
          <a:prstGeom prst="rect">
            <a:avLst/>
          </a:prstGeom>
          <a:solidFill>
            <a:srgbClr val="14C5B2"/>
          </a:solidFill>
          <a:ln w="12700">
            <a:solidFill>
              <a:srgbClr val="14C5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572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</a:t>
            </a:r>
            <a:endParaRPr lang="en-US" sz="88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spc="200" kern="0" dirty="0">
                <a:solidFill>
                  <a:srgbClr val="14C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Engine Optimization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Strategy  ·  Feature Design  ·  Monetization Roadmap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platform helping brands measure &amp; grow visibility across all major LLMs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4160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 Trainee Assessment  |  CogCulture  |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Search Revolution — Current State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777240"/>
            <a:ext cx="1920240" cy="182880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86868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1.8B+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20040" y="16002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active users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1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AI search tools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777240"/>
            <a:ext cx="1920240" cy="182880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86868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468880" y="16002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queries now go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1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AI-first interfaces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17720" y="777240"/>
            <a:ext cx="1920240" cy="182880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17720" y="86868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$9.4B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617720" y="16002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search market size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1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2028 (CAGR 28%)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66560" y="777240"/>
            <a:ext cx="1920240" cy="182880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66560" y="86868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766560" y="16002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Marketers say GEO is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1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priority for 2026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2834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for Brands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65760" y="3200400"/>
            <a:ext cx="8412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SEO optimises for Google crawlers — AI search requires a fundamentally different strategy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like ChatGPT, Gemini, Claude &amp; Perplexity now answer queries directly, bypassing traditional SERPs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 with no GEO strategy are effectively invisible to the fastest-growing user segment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patterns in LLMs are opaque — without analytics, brands cannot measure or influence them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Market Landscape — Competitor Comparison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8595360" cy="4023360"/>
        </p:xfrm>
        <a:graphic>
          <a:graphicData uri="http://schemas.openxmlformats.org/drawingml/2006/table">
            <a:tbl>
              <a:tblPr/>
              <a:tblGrid>
                <a:gridCol w="1463040"/>
                <a:gridCol w="2103120"/>
                <a:gridCol w="2103120"/>
                <a:gridCol w="822960"/>
                <a:gridCol w="1005840"/>
                <a:gridCol w="1188720"/>
              </a:tblGrid>
              <a:tr h="5747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Tool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Focus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LLMs Tracked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Real-Time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Competitor AI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Pricing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1F4B"/>
                          </a:solidFill>
                        </a:rPr>
                        <a:t>GEO (Ours)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Full-funnel AI visibility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ChatGPT, Claude, Gemini, Perplexity, Copilot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47857"/>
                          </a:solidFill>
                        </a:rPr>
                        <a:t>✅ Yes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47857"/>
                          </a:solidFill>
                        </a:rPr>
                        <a:t>✅ Yes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Tiered SaaS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F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1F4B"/>
                          </a:solidFill>
                        </a:rPr>
                        <a:t>Profound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B2B brand monitoring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ChatGPT, Perplexity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47857"/>
                          </a:solidFill>
                        </a:rPr>
                        <a:t>✅ Yes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Partial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$500+/mo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1F4B"/>
                          </a:solidFill>
                        </a:rPr>
                        <a:t>Otterly.ai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Prompt-based brand checks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ChatGPT, Claude, Gemini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❌ Manual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91C1C"/>
                          </a:solidFill>
                        </a:rPr>
                        <a:t>❌ No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$49–$299/mo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F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1F4B"/>
                          </a:solidFill>
                        </a:rPr>
                        <a:t>Peec.ai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AI share-of-voice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ChatGPT, Perplexity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Partial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Partial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$199+/mo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1F4B"/>
                          </a:solidFill>
                        </a:rPr>
                        <a:t>AthenaHQ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Enterprise AI analytics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ChatGPT, Gemini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47857"/>
                          </a:solidFill>
                        </a:rPr>
                        <a:t>✅ Yes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91C1C"/>
                          </a:solidFill>
                        </a:rPr>
                        <a:t>❌ No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Enterprise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F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1F4B"/>
                          </a:solidFill>
                        </a:rPr>
                        <a:t>Semrush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Traditional SEO + AI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Limited (Copilot)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91C1C"/>
                          </a:solidFill>
                        </a:rPr>
                        <a:t>❌ No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Partial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$130+/mo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GEO leads on coverage breadth, real-time capability, and competitive intelligence — the only platform with all three.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Design: Brand Citation Intelligence (BCI)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77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Brand Citation Intelligence?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BCI is GEO's flagship analytics module that tracks, analyses, and optimises how AI language models cite and reference a brand — in real time, across every major LLM.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240280"/>
            <a:ext cx="4114800" cy="749808"/>
          </a:xfrm>
          <a:prstGeom prst="rect">
            <a:avLst/>
          </a:prstGeom>
          <a:solidFill>
            <a:srgbClr val="F0FA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240280"/>
            <a:ext cx="73152" cy="749808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2951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Omni-LLM Monitoring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55117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ChatGPT, Claude, Gemini, Perplexity &amp; Copilot from one dashboard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2240280"/>
            <a:ext cx="4114800" cy="749808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2240280"/>
            <a:ext cx="73152" cy="749808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22951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Source Mapper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92040" y="255117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URLs/content drive LLM citations of your brand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136392"/>
            <a:ext cx="4114800" cy="749808"/>
          </a:xfrm>
          <a:prstGeom prst="rect">
            <a:avLst/>
          </a:prstGeom>
          <a:solidFill>
            <a:srgbClr val="F0FA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136392"/>
            <a:ext cx="73152" cy="749808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1912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&amp; Context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344728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tone, context, and accuracy of AI brand mentions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3136392"/>
            <a:ext cx="4114800" cy="749808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3136392"/>
            <a:ext cx="73152" cy="749808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1912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Share-of-Voice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344728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competitive benchmarking against 5 rivals simultaneously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4032504"/>
            <a:ext cx="4114800" cy="749808"/>
          </a:xfrm>
          <a:prstGeom prst="rect">
            <a:avLst/>
          </a:prstGeom>
          <a:solidFill>
            <a:srgbClr val="F0FA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4032504"/>
            <a:ext cx="73152" cy="749808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0873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Engine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43434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content recommendations to increase LLM citation frequency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4032504"/>
            <a:ext cx="4114800" cy="749808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4032504"/>
            <a:ext cx="73152" cy="749808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40873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Alerts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92040" y="43434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Slack/email notifications for brand drops or competitor surges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Citation Intelligence — How It Works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22960"/>
            <a:ext cx="1508760" cy="320040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86868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8686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38912" y="15544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Engine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" y="2148840"/>
            <a:ext cx="1371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1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prompt library fires 500+ brand/topic queries daily across all LLMs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874520" y="1920240"/>
            <a:ext cx="18288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57400" y="822960"/>
            <a:ext cx="1508760" cy="3200400"/>
          </a:xfrm>
          <a:prstGeom prst="rect">
            <a:avLst/>
          </a:prstGeom>
          <a:solidFill>
            <a:srgbClr val="162B5E"/>
          </a:solidFill>
          <a:ln w="12700">
            <a:solidFill>
              <a:srgbClr val="162B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32888" y="86868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32888" y="8686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130552" y="15544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Capture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30552" y="2148840"/>
            <a:ext cx="1371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1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outputs are captured, parsed, and stored with full metadata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566160" y="1920240"/>
            <a:ext cx="18288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49040" y="822960"/>
            <a:ext cx="1508760" cy="320040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24528" y="86868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24528" y="8686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822192" y="15544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Processing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22192" y="2148840"/>
            <a:ext cx="1371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1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Named-entity recognition isolates brand mentions, sentiment, and citation URLs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257800" y="1920240"/>
            <a:ext cx="18288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40680" y="822960"/>
            <a:ext cx="1508760" cy="3200400"/>
          </a:xfrm>
          <a:prstGeom prst="rect">
            <a:avLst/>
          </a:prstGeom>
          <a:solidFill>
            <a:srgbClr val="162B5E"/>
          </a:solidFill>
          <a:ln w="12700">
            <a:solidFill>
              <a:srgbClr val="162B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16168" y="86868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16168" y="8686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513832" y="15544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Layer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513832" y="2148840"/>
            <a:ext cx="1371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1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queries run for competitors — enabling real-time share-of-voice tracking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949440" y="1920240"/>
            <a:ext cx="18288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32320" y="822960"/>
            <a:ext cx="1508760" cy="320040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607808" y="86868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07808" y="8686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205472" y="15544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Dashboard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205472" y="2148840"/>
            <a:ext cx="1371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1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Trends, alerts, and AI-generated recommendations surfaced in the GEO UI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5760" y="4160520"/>
            <a:ext cx="8412480" cy="77724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2976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Sources: ChatGPT API  ·  Claude API  ·  Gemini API  ·  Perplexity API  ·  Bing Copilot  ·  Web Crawler (Backlink attribution)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Citation Intelligence — User Experience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772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320040" cy="320040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118872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Brand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1389888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brand name + up to 5 competitors. GEO auto-generates query library.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7492" y="1536192"/>
            <a:ext cx="18288" cy="3657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892808"/>
            <a:ext cx="320040" cy="320040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89280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189280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Scope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2093976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LLMs to monitor, query frequency (daily/weekly), and alert thresholds.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7492" y="2240280"/>
            <a:ext cx="18288" cy="3657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596896"/>
            <a:ext cx="320040" cy="320040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59689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259689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2798064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BCI dashboard shows share-of-voice, citation sources, sentiment trends over time.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7492" y="2944368"/>
            <a:ext cx="18288" cy="3657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300984"/>
            <a:ext cx="320040" cy="320040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30098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" y="330098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" y="3502152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'Optimise' tab delivers content gap analysis + specific page edits to boost citations.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7492" y="3648456"/>
            <a:ext cx="18288" cy="3657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4005072"/>
            <a:ext cx="320040" cy="320040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050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7240" y="400507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&amp; Reports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77240" y="420624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Slack/email notifications + weekly PDF digest sent to stakeholders automatically.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0" y="749808"/>
            <a:ext cx="4297680" cy="420624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0" y="749808"/>
            <a:ext cx="4297680" cy="411480"/>
          </a:xfrm>
          <a:prstGeom prst="rect">
            <a:avLst/>
          </a:prstGeom>
          <a:solidFill>
            <a:srgbClr val="162B5E"/>
          </a:solidFill>
          <a:ln w="12700">
            <a:solidFill>
              <a:srgbClr val="162B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17720" y="77724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C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BCI Dashboard — Brand Citation Intelligence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63440" y="1261872"/>
            <a:ext cx="1234440" cy="685800"/>
          </a:xfrm>
          <a:prstGeom prst="rect">
            <a:avLst/>
          </a:prstGeom>
          <a:solidFill>
            <a:srgbClr val="162B5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128016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4663440" y="1581912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Share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440680" y="1280160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+6%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6053328" y="1261872"/>
            <a:ext cx="1234440" cy="685800"/>
          </a:xfrm>
          <a:prstGeom prst="rect">
            <a:avLst/>
          </a:prstGeom>
          <a:solidFill>
            <a:srgbClr val="162B5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53328" y="128016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053328" y="1581912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Score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830568" y="1280160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+0.4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7443216" y="1261872"/>
            <a:ext cx="1234440" cy="685800"/>
          </a:xfrm>
          <a:prstGeom prst="rect">
            <a:avLst/>
          </a:prstGeom>
          <a:solidFill>
            <a:srgbClr val="162B5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43216" y="128016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C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1,247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7443216" y="1581912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Mentions Today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8220456" y="1280160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+18%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4617720" y="202996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Share-of-Voice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663440" y="23317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413248" y="2377440"/>
            <a:ext cx="932688" cy="201168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73368" y="233172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663440" y="271576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413248" y="2761488"/>
            <a:ext cx="603504" cy="201168"/>
          </a:xfrm>
          <a:prstGeom prst="rect">
            <a:avLst/>
          </a:prstGeom>
          <a:solidFill>
            <a:srgbClr val="14C5B2"/>
          </a:solidFill>
          <a:ln w="12700">
            <a:solidFill>
              <a:srgbClr val="14C5B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044184" y="271576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C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663440" y="309981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413248" y="3145536"/>
            <a:ext cx="493776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34456" y="309981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663440" y="348386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Perplxty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413248" y="3529584"/>
            <a:ext cx="438912" cy="20116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879592" y="348386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663440" y="386791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5413248" y="3913632"/>
            <a:ext cx="274320" cy="20116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715000" y="386791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4617720" y="46634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  ·  Competitors  ·  Alerts  ·  Reports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Roadmap — 0 to 3 Months (Now → Q3 2026)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132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&amp; Early Traction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2743200" cy="3794760"/>
          </a:xfrm>
          <a:prstGeom prst="rect">
            <a:avLst/>
          </a:prstGeom>
          <a:solidFill>
            <a:srgbClr val="F0FA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97280"/>
            <a:ext cx="2743200" cy="41148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06040" y="1115568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11556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 — Core BCI Launch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160020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BCI MVP: 3 LLMs (ChatGPT, Gemini, Perplexity)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12140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citation tracking dashboard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642616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10 beta brands (free tier)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3163824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QA + data accuracy benchmarking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3685032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integrations: Slack &amp; email alerts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46120" y="1097280"/>
            <a:ext cx="2743200" cy="379476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1097280"/>
            <a:ext cx="2743200" cy="41148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32120" y="1115568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37560" y="111556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 — Depth &amp; Stickiness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37560" y="160020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C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Claude + Bing Copilot (full 5-LLM coverage)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37560" y="212140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C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Competitor Share-of-Voice module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37560" y="2642616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C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Source Mapper v1 (URL attribution)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37560" y="3163824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C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digest PDF report generation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37560" y="3685032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C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20 paying customers — freemium conversion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72200" y="1097280"/>
            <a:ext cx="2743200" cy="3794760"/>
          </a:xfrm>
          <a:prstGeom prst="rect">
            <a:avLst/>
          </a:prstGeom>
          <a:solidFill>
            <a:srgbClr val="F0FA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72200" y="1097280"/>
            <a:ext cx="2743200" cy="41148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58200" y="1115568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63640" y="111556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 — Optimisation Layer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63640" y="160020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 Engine v1 (content gap analysis)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63640" y="212140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public Product Hunt / G2 listing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63640" y="2642616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programme for early users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63640" y="3163824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50 paying accounts, $15K MRR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63640" y="3685032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survey + feedback loop for roadmap v2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20040" y="4919472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at 3 months: $15K MRR · 50 paying customers · 5-LLM coverage · NPS &gt; 50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Roadmap — 3 to 12 Months (Q4 2026 → Q2 2027)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13232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Scale, Enterprise &amp; Platform Expansion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8412480" cy="7315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1005840"/>
            <a:ext cx="256032" cy="256032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2801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840480" y="1005840"/>
            <a:ext cx="256032" cy="256032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2801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583680" y="1005840"/>
            <a:ext cx="256032" cy="256032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0760" y="12801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2027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1600200"/>
            <a:ext cx="2743200" cy="3200400"/>
          </a:xfrm>
          <a:prstGeom prst="rect">
            <a:avLst/>
          </a:prstGeom>
          <a:solidFill>
            <a:srgbClr val="F0FA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1600200"/>
            <a:ext cx="2743200" cy="36576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161848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 — Growth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11480" y="205740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BCI v2: sentiment deep-dive &amp; hallucination alerts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257860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access for developers (usage-based billing)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3099816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 &amp; HubSpot integrations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3621024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partner programme (reseller tier)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" y="4142232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$45K MRR, 150 accounts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46120" y="1600200"/>
            <a:ext cx="2743200" cy="3200400"/>
          </a:xfrm>
          <a:prstGeom prst="rect">
            <a:avLst/>
          </a:prstGeom>
          <a:solidFill>
            <a:srgbClr val="0B1F4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1600200"/>
            <a:ext cx="2743200" cy="36576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61848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 — Enterprise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337560" y="205740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C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SSO, role-based access, SLAs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37560" y="257860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C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reports for agencies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37560" y="3099816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C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LLM monitoring (private / fine-tuned models)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37560" y="3621024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C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citation scoring (AI-powered forecasting)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37560" y="4142232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C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$100K MRR, 300 accounts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72200" y="1600200"/>
            <a:ext cx="2743200" cy="3200400"/>
          </a:xfrm>
          <a:prstGeom prst="rect">
            <a:avLst/>
          </a:prstGeom>
          <a:solidFill>
            <a:srgbClr val="F0FA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72200" y="1600200"/>
            <a:ext cx="2743200" cy="36576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161848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2027 — Platform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263640" y="205740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Marketplace: third-party app integrations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63640" y="257860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Optimisation Autopilot (automated publishing)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63640" y="3099816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LLMs: Baidu Ernie, Mistral, Llama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63640" y="3621024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 fundraise positioning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63640" y="4142232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$200K MRR, 600+ accounts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20040" y="4910328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Target at 12 months: $2.4M+  ·  600+ paying accounts  ·  Platform ecosystem with 10+ integrations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Monetisation Strategy — Tiered SaaS + Usage Revenue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49808"/>
            <a:ext cx="2057400" cy="4023360"/>
          </a:xfrm>
          <a:prstGeom prst="rect">
            <a:avLst/>
          </a:prstGeom>
          <a:solidFill>
            <a:srgbClr val="F0FA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8229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117043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$49/mo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" y="16642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SMBs &amp; solo marketers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20116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brand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239572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LLMs monitored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277977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digest reports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316382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alerts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35478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data history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468880" y="749808"/>
            <a:ext cx="2057400" cy="402336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560320" y="8229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560320" y="117043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$199/mo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2560320" y="16642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1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 ★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606040" y="20116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C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brands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606040" y="239572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C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LLMs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606040" y="277977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C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source mapper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606040" y="316382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C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tracking (3)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606040" y="35478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C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history + API access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63440" y="749808"/>
            <a:ext cx="2057400" cy="4023360"/>
          </a:xfrm>
          <a:prstGeom prst="rect">
            <a:avLst/>
          </a:prstGeom>
          <a:solidFill>
            <a:srgbClr val="0B1F4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54880" y="8229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754880" y="117043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$499/mo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4754880" y="16642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1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agencies &amp; scale-ups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00600" y="20116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C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brands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00600" y="239572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C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LLMs + custom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00600" y="277977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C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reports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00600" y="316382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C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competitors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00600" y="35478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C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history + Slack/CRM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858000" y="749808"/>
            <a:ext cx="2057400" cy="4023360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949440" y="8229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949440" y="117043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6949440" y="16642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large brands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995160" y="20116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brands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995160" y="239572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LLM support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995160" y="277977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CSM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995160" y="316382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SLAs &amp; SSO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995160" y="35478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 export &amp; API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882896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Revenue Streams:  API Usage (per-call billing)  ·  Agency Reseller Programme (30% margin)  ·  GEO Marketplace Add-ons  ·  Training &amp; Consulting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 &amp; KPIs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749808"/>
            <a:ext cx="2651760" cy="4114800"/>
          </a:xfrm>
          <a:prstGeom prst="rect">
            <a:avLst/>
          </a:prstGeom>
          <a:solidFill>
            <a:srgbClr val="F0FA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749808"/>
            <a:ext cx="2651760" cy="45720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768096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Product Metrics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325880"/>
            <a:ext cx="24688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3716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Active Users (DAU) on BCI dashboard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2130552"/>
            <a:ext cx="24688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176272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adoption rate (Citation Source Mapper, Alerts)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935224"/>
            <a:ext cx="24688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980944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accuracy vs ground truth (target &gt; 95%)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3739896"/>
            <a:ext cx="24688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785616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latency &lt; 5 minutes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0" y="749808"/>
            <a:ext cx="2651760" cy="4114800"/>
          </a:xfrm>
          <a:prstGeom prst="rect">
            <a:avLst/>
          </a:prstGeom>
          <a:solidFill>
            <a:srgbClr val="0B1F4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749808"/>
            <a:ext cx="2651760" cy="457200"/>
          </a:xfrm>
          <a:prstGeom prst="rect">
            <a:avLst/>
          </a:prstGeom>
          <a:solidFill>
            <a:srgbClr val="0B1F4B"/>
          </a:solidFill>
          <a:ln w="12700">
            <a:solidFill>
              <a:srgbClr val="0B1F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768096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Business Metrics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91840" y="1325880"/>
            <a:ext cx="2468880" cy="713232"/>
          </a:xfrm>
          <a:prstGeom prst="rect">
            <a:avLst/>
          </a:prstGeom>
          <a:solidFill>
            <a:srgbClr val="162B5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13716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Recurring Revenue (MRR) growth rate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91840" y="2130552"/>
            <a:ext cx="2468880" cy="713232"/>
          </a:xfrm>
          <a:prstGeom prst="rect">
            <a:avLst/>
          </a:prstGeom>
          <a:solidFill>
            <a:srgbClr val="162B5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2176272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Acquisition Cost (CAC) &lt; $300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91840" y="2935224"/>
            <a:ext cx="2468880" cy="713232"/>
          </a:xfrm>
          <a:prstGeom prst="rect">
            <a:avLst/>
          </a:prstGeom>
          <a:solidFill>
            <a:srgbClr val="162B5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2980944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LTV:CAC ratio &gt; 4:1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91840" y="3739896"/>
            <a:ext cx="2468880" cy="713232"/>
          </a:xfrm>
          <a:prstGeom prst="rect">
            <a:avLst/>
          </a:prstGeom>
          <a:solidFill>
            <a:srgbClr val="162B5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3785616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&lt; 3% monthly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80760" y="749808"/>
            <a:ext cx="2651760" cy="4114800"/>
          </a:xfrm>
          <a:prstGeom prst="rect">
            <a:avLst/>
          </a:prstGeom>
          <a:solidFill>
            <a:srgbClr val="F0FA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80760" y="749808"/>
            <a:ext cx="2651760" cy="45720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72200" y="768096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Customer Metrics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172200" y="1325880"/>
            <a:ext cx="24688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13716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Promoter Score (NPS) &gt; 50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72200" y="2130552"/>
            <a:ext cx="24688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63640" y="2176272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completion rate &gt; 80%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72200" y="2935224"/>
            <a:ext cx="24688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63640" y="2980944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Time-to-value &lt; 7 days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72200" y="3739896"/>
            <a:ext cx="24688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63640" y="3785616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ticket resolution &lt; 4 hours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0040" y="4873752"/>
            <a:ext cx="8503920" cy="246888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489204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 Metric:  # of brands that increased LLM citation share by &gt; 10% within 90 days of using BCI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4206240"/>
            <a:ext cx="8823960" cy="937260"/>
          </a:xfrm>
          <a:prstGeom prst="rect">
            <a:avLst/>
          </a:prstGeom>
          <a:solidFill>
            <a:srgbClr val="162B5E"/>
          </a:solidFill>
          <a:ln w="12700">
            <a:solidFill>
              <a:srgbClr val="162B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4206240"/>
            <a:ext cx="8823960" cy="45720"/>
          </a:xfrm>
          <a:prstGeom prst="rect">
            <a:avLst/>
          </a:prstGeom>
          <a:solidFill>
            <a:srgbClr val="14C5B2"/>
          </a:solidFill>
          <a:ln w="12700">
            <a:solidFill>
              <a:srgbClr val="14C5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20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C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80467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search is not the future — it is the present.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35331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 that don't measure their LLM visibility today will lose ground that's hard to recover.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2011680"/>
            <a:ext cx="3749040" cy="777240"/>
          </a:xfrm>
          <a:prstGeom prst="rect">
            <a:avLst/>
          </a:prstGeom>
          <a:solidFill>
            <a:srgbClr val="162B5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2011680"/>
            <a:ext cx="73152" cy="77724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07568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C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BCI is the Answer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340864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end-to-end solution mapping what AI says about your brand — and how to change it.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2011680"/>
            <a:ext cx="3749040" cy="777240"/>
          </a:xfrm>
          <a:prstGeom prst="rect">
            <a:avLst/>
          </a:prstGeom>
          <a:solidFill>
            <a:srgbClr val="162B5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2011680"/>
            <a:ext cx="73152" cy="77724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07568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C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Defensible Moat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2340864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query library + cross-LLM data layer creates a dataset no competitor can replicate.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" y="2971800"/>
            <a:ext cx="3749040" cy="777240"/>
          </a:xfrm>
          <a:prstGeom prst="rect">
            <a:avLst/>
          </a:prstGeom>
          <a:solidFill>
            <a:srgbClr val="162B5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2971800"/>
            <a:ext cx="73152" cy="77724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03580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C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Timing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3300984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market is pre-consolidation — capturing customers now builds durable retention.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2971800"/>
            <a:ext cx="3749040" cy="777240"/>
          </a:xfrm>
          <a:prstGeom prst="rect">
            <a:avLst/>
          </a:prstGeom>
          <a:solidFill>
            <a:srgbClr val="162B5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9160" y="2971800"/>
            <a:ext cx="73152" cy="77724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303580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C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$2.4M ARR in 12 Months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3300984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path from MVP to platform with tiered monetisation and enterprise upsell.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431596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CogCulture  ·  Product Management Trainee Assessment  ·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 Product Strategy &amp; Monetization Roadmap</dc:title>
  <dc:subject>PptxGenJS Presentation</dc:subject>
  <dc:creator>PptxGenJS</dc:creator>
  <cp:lastModifiedBy>PptxGenJS</cp:lastModifiedBy>
  <cp:revision>1</cp:revision>
  <dcterms:created xsi:type="dcterms:W3CDTF">2026-05-25T11:32:17Z</dcterms:created>
  <dcterms:modified xsi:type="dcterms:W3CDTF">2026-05-25T11:32:17Z</dcterms:modified>
</cp:coreProperties>
</file>